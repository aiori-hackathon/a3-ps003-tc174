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8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59E646-4C1F-4B76-A419-C1225D9DA435}" v="18" dt="2026-10-14T16:33:03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POJU SRI CHANDANA" userId="cb186f0c0d658b02" providerId="LiveId" clId="{966CA4C9-292E-4A0F-BC80-273598695BA3}"/>
    <pc:docChg chg="undo custSel addSld modSld">
      <pc:chgData name="ADAPOJU SRI CHANDANA" userId="cb186f0c0d658b02" providerId="LiveId" clId="{966CA4C9-292E-4A0F-BC80-273598695BA3}" dt="2026-10-14T16:33:24.342" v="1323" actId="2711"/>
      <pc:docMkLst>
        <pc:docMk/>
      </pc:docMkLst>
      <pc:sldChg chg="modSp mod">
        <pc:chgData name="ADAPOJU SRI CHANDANA" userId="cb186f0c0d658b02" providerId="LiveId" clId="{966CA4C9-292E-4A0F-BC80-273598695BA3}" dt="2026-10-14T02:19:00.335" v="0" actId="1076"/>
        <pc:sldMkLst>
          <pc:docMk/>
          <pc:sldMk cId="2483762564" sldId="257"/>
        </pc:sldMkLst>
        <pc:picChg chg="mod">
          <ac:chgData name="ADAPOJU SRI CHANDANA" userId="cb186f0c0d658b02" providerId="LiveId" clId="{966CA4C9-292E-4A0F-BC80-273598695BA3}" dt="2026-10-14T02:19:00.335" v="0" actId="1076"/>
          <ac:picMkLst>
            <pc:docMk/>
            <pc:sldMk cId="2483762564" sldId="257"/>
            <ac:picMk id="3" creationId="{17226F21-04E7-2A40-12C7-44336485BAAF}"/>
          </ac:picMkLst>
        </pc:picChg>
      </pc:sldChg>
      <pc:sldChg chg="modSp mod">
        <pc:chgData name="ADAPOJU SRI CHANDANA" userId="cb186f0c0d658b02" providerId="LiveId" clId="{966CA4C9-292E-4A0F-BC80-273598695BA3}" dt="2026-10-14T14:45:41.067" v="44" actId="2711"/>
        <pc:sldMkLst>
          <pc:docMk/>
          <pc:sldMk cId="1668215454" sldId="259"/>
        </pc:sldMkLst>
        <pc:spChg chg="mod">
          <ac:chgData name="ADAPOJU SRI CHANDANA" userId="cb186f0c0d658b02" providerId="LiveId" clId="{966CA4C9-292E-4A0F-BC80-273598695BA3}" dt="2026-10-14T14:45:41.067" v="44" actId="2711"/>
          <ac:spMkLst>
            <pc:docMk/>
            <pc:sldMk cId="1668215454" sldId="259"/>
            <ac:spMk id="3" creationId="{0BA73CBA-B3BD-F5D9-5761-D3DE86D2DC0D}"/>
          </ac:spMkLst>
        </pc:spChg>
      </pc:sldChg>
      <pc:sldChg chg="modSp mod">
        <pc:chgData name="ADAPOJU SRI CHANDANA" userId="cb186f0c0d658b02" providerId="LiveId" clId="{966CA4C9-292E-4A0F-BC80-273598695BA3}" dt="2026-10-14T14:48:52.309" v="67" actId="1076"/>
        <pc:sldMkLst>
          <pc:docMk/>
          <pc:sldMk cId="1865827505" sldId="260"/>
        </pc:sldMkLst>
        <pc:spChg chg="mod">
          <ac:chgData name="ADAPOJU SRI CHANDANA" userId="cb186f0c0d658b02" providerId="LiveId" clId="{966CA4C9-292E-4A0F-BC80-273598695BA3}" dt="2026-10-14T14:48:52.309" v="67" actId="1076"/>
          <ac:spMkLst>
            <pc:docMk/>
            <pc:sldMk cId="1865827505" sldId="260"/>
            <ac:spMk id="2" creationId="{4D02551E-27A9-CABE-C84E-BC8DD50D986E}"/>
          </ac:spMkLst>
        </pc:spChg>
        <pc:spChg chg="mod">
          <ac:chgData name="ADAPOJU SRI CHANDANA" userId="cb186f0c0d658b02" providerId="LiveId" clId="{966CA4C9-292E-4A0F-BC80-273598695BA3}" dt="2026-10-14T14:48:19.812" v="66" actId="2710"/>
          <ac:spMkLst>
            <pc:docMk/>
            <pc:sldMk cId="1865827505" sldId="260"/>
            <ac:spMk id="3" creationId="{6045C4BD-F7B9-E3C9-C4FE-27FA166A7F70}"/>
          </ac:spMkLst>
        </pc:spChg>
      </pc:sldChg>
      <pc:sldChg chg="modSp mod">
        <pc:chgData name="ADAPOJU SRI CHANDANA" userId="cb186f0c0d658b02" providerId="LiveId" clId="{966CA4C9-292E-4A0F-BC80-273598695BA3}" dt="2026-10-14T14:54:43.752" v="130" actId="20577"/>
        <pc:sldMkLst>
          <pc:docMk/>
          <pc:sldMk cId="923050126" sldId="261"/>
        </pc:sldMkLst>
        <pc:spChg chg="mod">
          <ac:chgData name="ADAPOJU SRI CHANDANA" userId="cb186f0c0d658b02" providerId="LiveId" clId="{966CA4C9-292E-4A0F-BC80-273598695BA3}" dt="2026-10-14T14:54:43.752" v="130" actId="20577"/>
          <ac:spMkLst>
            <pc:docMk/>
            <pc:sldMk cId="923050126" sldId="261"/>
            <ac:spMk id="3" creationId="{C670B033-7F4E-AFDA-33A4-3ADF879C9D0A}"/>
          </ac:spMkLst>
        </pc:spChg>
      </pc:sldChg>
      <pc:sldChg chg="modSp mod">
        <pc:chgData name="ADAPOJU SRI CHANDANA" userId="cb186f0c0d658b02" providerId="LiveId" clId="{966CA4C9-292E-4A0F-BC80-273598695BA3}" dt="2026-10-14T15:01:27.261" v="188" actId="12"/>
        <pc:sldMkLst>
          <pc:docMk/>
          <pc:sldMk cId="3288312311" sldId="262"/>
        </pc:sldMkLst>
        <pc:spChg chg="mod">
          <ac:chgData name="ADAPOJU SRI CHANDANA" userId="cb186f0c0d658b02" providerId="LiveId" clId="{966CA4C9-292E-4A0F-BC80-273598695BA3}" dt="2026-10-14T14:58:42.640" v="162" actId="1076"/>
          <ac:spMkLst>
            <pc:docMk/>
            <pc:sldMk cId="3288312311" sldId="262"/>
            <ac:spMk id="2" creationId="{CE03320F-2912-775A-8DAB-B04139222F87}"/>
          </ac:spMkLst>
        </pc:spChg>
        <pc:spChg chg="mod">
          <ac:chgData name="ADAPOJU SRI CHANDANA" userId="cb186f0c0d658b02" providerId="LiveId" clId="{966CA4C9-292E-4A0F-BC80-273598695BA3}" dt="2026-10-14T15:01:27.261" v="188" actId="12"/>
          <ac:spMkLst>
            <pc:docMk/>
            <pc:sldMk cId="3288312311" sldId="262"/>
            <ac:spMk id="3" creationId="{646616EF-B6CC-B3DA-E594-F16743464FD6}"/>
          </ac:spMkLst>
        </pc:spChg>
      </pc:sldChg>
      <pc:sldChg chg="modSp mod">
        <pc:chgData name="ADAPOJU SRI CHANDANA" userId="cb186f0c0d658b02" providerId="LiveId" clId="{966CA4C9-292E-4A0F-BC80-273598695BA3}" dt="2026-10-14T15:19:38.464" v="1009" actId="14100"/>
        <pc:sldMkLst>
          <pc:docMk/>
          <pc:sldMk cId="919382087" sldId="263"/>
        </pc:sldMkLst>
        <pc:graphicFrameChg chg="mod modGraphic">
          <ac:chgData name="ADAPOJU SRI CHANDANA" userId="cb186f0c0d658b02" providerId="LiveId" clId="{966CA4C9-292E-4A0F-BC80-273598695BA3}" dt="2026-10-14T15:19:38.464" v="1009" actId="14100"/>
          <ac:graphicFrameMkLst>
            <pc:docMk/>
            <pc:sldMk cId="919382087" sldId="263"/>
            <ac:graphicFrameMk id="4" creationId="{DD3270B9-F6C1-7BF7-0817-269E5785F088}"/>
          </ac:graphicFrameMkLst>
        </pc:graphicFrameChg>
      </pc:sldChg>
      <pc:sldChg chg="addSp delSp modSp mod">
        <pc:chgData name="ADAPOJU SRI CHANDANA" userId="cb186f0c0d658b02" providerId="LiveId" clId="{966CA4C9-292E-4A0F-BC80-273598695BA3}" dt="2026-10-14T16:25:41.420" v="1059" actId="1076"/>
        <pc:sldMkLst>
          <pc:docMk/>
          <pc:sldMk cId="3918689535" sldId="264"/>
        </pc:sldMkLst>
        <pc:spChg chg="mod">
          <ac:chgData name="ADAPOJU SRI CHANDANA" userId="cb186f0c0d658b02" providerId="LiveId" clId="{966CA4C9-292E-4A0F-BC80-273598695BA3}" dt="2026-10-14T16:25:41.420" v="1059" actId="1076"/>
          <ac:spMkLst>
            <pc:docMk/>
            <pc:sldMk cId="3918689535" sldId="264"/>
            <ac:spMk id="2" creationId="{582E37A8-527B-7470-0E77-16085749F621}"/>
          </ac:spMkLst>
        </pc:spChg>
        <pc:spChg chg="add del mod">
          <ac:chgData name="ADAPOJU SRI CHANDANA" userId="cb186f0c0d658b02" providerId="LiveId" clId="{966CA4C9-292E-4A0F-BC80-273598695BA3}" dt="2026-10-14T16:16:57.761" v="1011" actId="931"/>
          <ac:spMkLst>
            <pc:docMk/>
            <pc:sldMk cId="3918689535" sldId="264"/>
            <ac:spMk id="4" creationId="{8E6A1770-B0F4-7665-4F35-59B56DEE3702}"/>
          </ac:spMkLst>
        </pc:spChg>
        <pc:picChg chg="add mod ord">
          <ac:chgData name="ADAPOJU SRI CHANDANA" userId="cb186f0c0d658b02" providerId="LiveId" clId="{966CA4C9-292E-4A0F-BC80-273598695BA3}" dt="2026-10-14T16:25:35.195" v="1058" actId="1076"/>
          <ac:picMkLst>
            <pc:docMk/>
            <pc:sldMk cId="3918689535" sldId="264"/>
            <ac:picMk id="6" creationId="{B71E316B-1F5D-5886-1EC5-09E8BD3B7095}"/>
          </ac:picMkLst>
        </pc:picChg>
        <pc:picChg chg="del">
          <ac:chgData name="ADAPOJU SRI CHANDANA" userId="cb186f0c0d658b02" providerId="LiveId" clId="{966CA4C9-292E-4A0F-BC80-273598695BA3}" dt="2026-10-14T16:16:31.351" v="1010" actId="478"/>
          <ac:picMkLst>
            <pc:docMk/>
            <pc:sldMk cId="3918689535" sldId="264"/>
            <ac:picMk id="18" creationId="{A03A1264-39B9-22EC-39DC-566F9EE51F76}"/>
          </ac:picMkLst>
        </pc:picChg>
      </pc:sldChg>
      <pc:sldChg chg="modSp mod">
        <pc:chgData name="ADAPOJU SRI CHANDANA" userId="cb186f0c0d658b02" providerId="LiveId" clId="{966CA4C9-292E-4A0F-BC80-273598695BA3}" dt="2026-10-14T16:31:28.482" v="1319" actId="27636"/>
        <pc:sldMkLst>
          <pc:docMk/>
          <pc:sldMk cId="3342840345" sldId="265"/>
        </pc:sldMkLst>
        <pc:spChg chg="mod">
          <ac:chgData name="ADAPOJU SRI CHANDANA" userId="cb186f0c0d658b02" providerId="LiveId" clId="{966CA4C9-292E-4A0F-BC80-273598695BA3}" dt="2026-10-14T16:31:28.482" v="1319" actId="27636"/>
          <ac:spMkLst>
            <pc:docMk/>
            <pc:sldMk cId="3342840345" sldId="265"/>
            <ac:spMk id="3" creationId="{D3E4F694-B454-951A-CCE1-836DFA61D509}"/>
          </ac:spMkLst>
        </pc:spChg>
      </pc:sldChg>
      <pc:sldChg chg="modSp mod">
        <pc:chgData name="ADAPOJU SRI CHANDANA" userId="cb186f0c0d658b02" providerId="LiveId" clId="{966CA4C9-292E-4A0F-BC80-273598695BA3}" dt="2026-10-14T16:33:24.342" v="1323" actId="2711"/>
        <pc:sldMkLst>
          <pc:docMk/>
          <pc:sldMk cId="2495448311" sldId="266"/>
        </pc:sldMkLst>
        <pc:spChg chg="mod">
          <ac:chgData name="ADAPOJU SRI CHANDANA" userId="cb186f0c0d658b02" providerId="LiveId" clId="{966CA4C9-292E-4A0F-BC80-273598695BA3}" dt="2026-10-14T16:33:24.342" v="1323" actId="2711"/>
          <ac:spMkLst>
            <pc:docMk/>
            <pc:sldMk cId="2495448311" sldId="266"/>
            <ac:spMk id="3" creationId="{E52FAFE8-43D4-C24D-991C-866C707B9DC5}"/>
          </ac:spMkLst>
        </pc:spChg>
      </pc:sldChg>
      <pc:sldChg chg="addSp delSp modSp new mod">
        <pc:chgData name="ADAPOJU SRI CHANDANA" userId="cb186f0c0d658b02" providerId="LiveId" clId="{966CA4C9-292E-4A0F-BC80-273598695BA3}" dt="2026-10-14T16:28:06.868" v="1134" actId="14100"/>
        <pc:sldMkLst>
          <pc:docMk/>
          <pc:sldMk cId="618064865" sldId="268"/>
        </pc:sldMkLst>
        <pc:spChg chg="mod">
          <ac:chgData name="ADAPOJU SRI CHANDANA" userId="cb186f0c0d658b02" providerId="LiveId" clId="{966CA4C9-292E-4A0F-BC80-273598695BA3}" dt="2026-10-14T16:28:00.582" v="1133" actId="14100"/>
          <ac:spMkLst>
            <pc:docMk/>
            <pc:sldMk cId="618064865" sldId="268"/>
            <ac:spMk id="2" creationId="{E59736DC-F083-E200-3DE2-BC4E6D88CC46}"/>
          </ac:spMkLst>
        </pc:spChg>
        <pc:spChg chg="del">
          <ac:chgData name="ADAPOJU SRI CHANDANA" userId="cb186f0c0d658b02" providerId="LiveId" clId="{966CA4C9-292E-4A0F-BC80-273598695BA3}" dt="2026-10-14T16:27:39.935" v="1128" actId="931"/>
          <ac:spMkLst>
            <pc:docMk/>
            <pc:sldMk cId="618064865" sldId="268"/>
            <ac:spMk id="3" creationId="{CA3275DB-7416-913C-69C4-5878D697D444}"/>
          </ac:spMkLst>
        </pc:spChg>
        <pc:picChg chg="add mod ord">
          <ac:chgData name="ADAPOJU SRI CHANDANA" userId="cb186f0c0d658b02" providerId="LiveId" clId="{966CA4C9-292E-4A0F-BC80-273598695BA3}" dt="2026-10-14T16:28:06.868" v="1134" actId="14100"/>
          <ac:picMkLst>
            <pc:docMk/>
            <pc:sldMk cId="618064865" sldId="268"/>
            <ac:picMk id="5" creationId="{4094DFDA-2939-9986-FAFB-875AECC3CD8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2F28-E823-A3A3-18F0-EE66327B8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5DDA0C-8912-DBDD-B3FB-3810941B5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6551E-F2E7-FA03-61C5-92791CC2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C0066-DADF-DCD0-C097-151BA23F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34235-3254-F638-171A-79D1466D4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6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26DB9-E4C4-E53C-C480-A3CECB61F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73B0F-2832-0294-385D-20A893F19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7D3FB-12C5-96F8-A146-551087457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4BB59-3402-CE7A-650C-67A55417C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0B355-633B-5416-62FF-FD1154F83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81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F4AD6-3E68-EA0B-9CCC-07520BAFD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040BC-4929-76F8-B6EC-4DCB5AC31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068CE-2C06-6F16-594B-D5B4668B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C3112-C9D5-AED3-35AC-AF581C80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5A219-E280-44D4-9AAA-97E08C0C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55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8E663-D906-22FD-6746-0BB90ECE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F3F46-732C-6E72-3122-C07604E9B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6AD93-25BA-EB84-44DD-B3153DBA2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E2CB16-E587-7474-6539-87EE8BEF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F6313-7C3E-AE98-F13A-F72C8D039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1E157-E298-AA88-974A-AF726637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190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9228C-EEA6-F033-CF35-E5048AEF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F64DC-984C-61FA-BF79-36FB42F9F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B94A3-7523-2A59-A4B9-8C83DA84A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73FEF-3520-9EA3-08CC-036BCB320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2498F8-E918-98B6-683E-4856B063A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EC42E-2E72-62AD-6DC0-D6C881B4B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DCAE3-3752-E479-5F28-7CCCD3B7A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78CE52-0356-2B31-55A2-9AAFEBB6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734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3B3E-8947-D625-E6EB-05A6DE3DA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2A3BF3-27EF-23F1-826B-7B594436D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04A325-6E94-32B6-7CAF-D98B52133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3AA4B-931C-B802-325F-C944E8A2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893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CA4B2C-538D-9E95-5803-D45CC731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70B8F-D75A-2799-A4E4-01E973662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4E5D4-1DF0-7EC9-F3A8-37C8AA78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96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D848-517F-170A-AF4C-5F20A9CB5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8F73C-7A51-8545-A2EC-8D40DB20D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86B17-9BE2-8076-9DEA-F7A038FBA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D2FA3-4FD1-0A90-AB91-F6BC067E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C90B0-B13D-C1CC-FCF1-573FC8C1D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DEB4AC-5A63-BDB6-4F4A-B3833F8FE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25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0448-DF8C-0EB3-27B9-E5F0490A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4CBBDA-42DC-5448-E88A-C0EC2822E4B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8D0BF-1D1A-5620-D01C-416045278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8B5FF-9F18-92AE-7860-AC807F250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8C7B1-9A43-31CB-7350-0D819975A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65B55-B275-1025-A14E-23B2292F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42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BA597-2CD3-B42E-C1DB-A19C69112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AA125-C436-4081-C408-A7DE2AEAB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06937-6637-4F86-C3E6-2FC1B1B49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6D6CF-06E8-D34D-147B-86CC2926C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C10B3-F0C9-903F-1DE1-EB73851FD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49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52B6D-9AAD-43A3-A2C0-183D2F0C6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FECF5-E2BD-06D2-442E-4F04B4FEA3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CE40B-AC98-05A9-CBE3-C8FA05F1F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592B3-7569-8103-0F5E-E8202EA9C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C465-DBBE-7FC8-BB78-CE5B6E642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09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2662A-9149-18E5-850A-2C6828AC9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AFFEA-CD92-58E8-B88D-05E83F676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F36DF-CA74-686D-F24B-E88BDFECB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68951B-B1DC-4FBD-850B-EB9470BA6043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2B60A-1BF9-E89C-09D6-FB9E5B272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2C0F6-98B5-A950-06E6-765770E57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E3AEF-3B9E-493F-AEF7-9FF953EA19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8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richandana734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mlwa.2025.100829" TargetMode="External"/><Relationship Id="rId2" Type="http://schemas.openxmlformats.org/officeDocument/2006/relationships/hyperlink" Target="https://doi.org/10.3390/eng7080362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7226F21-04E7-2A40-12C7-44336485BAA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090" y="442451"/>
            <a:ext cx="1641987" cy="15141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6263B5-AF4C-A71F-6CE8-08A1AA708AB7}"/>
              </a:ext>
            </a:extLst>
          </p:cNvPr>
          <p:cNvSpPr txBox="1"/>
          <p:nvPr/>
        </p:nvSpPr>
        <p:spPr>
          <a:xfrm>
            <a:off x="698090" y="2163966"/>
            <a:ext cx="9350478" cy="409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785"/>
              </a:spcBef>
            </a:pPr>
            <a:r>
              <a:rPr lang="en-IN" sz="2000" b="1" dirty="0">
                <a:solidFill>
                  <a:srgbClr val="002060"/>
                </a:solidFill>
                <a:latin typeface="Arial Black" panose="020B0A04020102020204" pitchFamily="34" charset="0"/>
              </a:rPr>
              <a:t>A3-PS003-TC174</a:t>
            </a:r>
          </a:p>
          <a:p>
            <a:pPr marL="12700">
              <a:spcBef>
                <a:spcPts val="785"/>
              </a:spcBef>
            </a:pPr>
            <a:endParaRPr lang="en-IN" sz="2000" b="1" dirty="0">
              <a:solidFill>
                <a:srgbClr val="002060"/>
              </a:solidFill>
            </a:endParaRPr>
          </a:p>
          <a:p>
            <a:pPr marL="12700">
              <a:spcBef>
                <a:spcPts val="785"/>
              </a:spcBef>
            </a:pP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  <a:cs typeface="Calibri"/>
              </a:rPr>
              <a:t>Federated Traffic-Flow Prediction: 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Evaluating </a:t>
            </a:r>
            <a:r>
              <a:rPr lang="en-US" sz="2400" dirty="0" err="1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FedAvg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and </a:t>
            </a:r>
            <a:r>
              <a:rPr lang="en-US" sz="2400" dirty="0" err="1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FedAdam</a:t>
            </a:r>
            <a:r>
              <a:rPr lang="en-US" sz="2400" dirty="0">
                <a:solidFill>
                  <a:srgbClr val="00206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under IID and Non-IID Data Distributions</a:t>
            </a:r>
          </a:p>
          <a:p>
            <a:pPr marL="12700">
              <a:spcBef>
                <a:spcPts val="785"/>
              </a:spcBef>
            </a:pPr>
            <a:endParaRPr lang="en-US" sz="2000" dirty="0">
              <a:solidFill>
                <a:srgbClr val="002060"/>
              </a:solidFill>
              <a:latin typeface="Arial Black" panose="020B0A04020102020204" pitchFamily="34" charset="0"/>
              <a:cs typeface="Calibri"/>
            </a:endParaRPr>
          </a:p>
          <a:p>
            <a:pPr marL="12700">
              <a:spcBef>
                <a:spcPts val="785"/>
              </a:spcBef>
            </a:pPr>
            <a:endParaRPr lang="en-US" sz="20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>
              <a:spcBef>
                <a:spcPts val="785"/>
              </a:spcBef>
            </a:pPr>
            <a:r>
              <a:rPr lang="en-US" sz="2000" dirty="0">
                <a:latin typeface="Calibri"/>
                <a:cs typeface="Calibri"/>
              </a:rPr>
              <a:t>A . Sri Chandana</a:t>
            </a:r>
          </a:p>
          <a:p>
            <a:pPr marL="12700">
              <a:spcBef>
                <a:spcPts val="785"/>
              </a:spcBef>
            </a:pPr>
            <a:r>
              <a:rPr lang="en-US" sz="2000" dirty="0">
                <a:solidFill>
                  <a:srgbClr val="002060"/>
                </a:solidFill>
                <a:latin typeface="Calibri"/>
                <a:cs typeface="Calibri"/>
                <a:hlinkClick r:id="rId3"/>
              </a:rPr>
              <a:t>Srichandana734@gmail.com</a:t>
            </a:r>
            <a:endParaRPr lang="en-US" sz="20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>
              <a:spcBef>
                <a:spcPts val="785"/>
              </a:spcBef>
            </a:pPr>
            <a:r>
              <a:rPr lang="en-IN" spc="-35" dirty="0">
                <a:latin typeface="Verdana"/>
                <a:cs typeface="Verdana"/>
              </a:rPr>
              <a:t>AIORI</a:t>
            </a:r>
            <a:r>
              <a:rPr lang="en-IN" spc="-25" dirty="0">
                <a:latin typeface="Verdana"/>
                <a:cs typeface="Verdana"/>
              </a:rPr>
              <a:t> </a:t>
            </a:r>
            <a:r>
              <a:rPr lang="en-IN" spc="-10" dirty="0">
                <a:latin typeface="Verdana"/>
                <a:cs typeface="Verdana"/>
              </a:rPr>
              <a:t>Hackathon</a:t>
            </a:r>
            <a:r>
              <a:rPr lang="en-IN" spc="-25" dirty="0">
                <a:latin typeface="Verdana"/>
                <a:cs typeface="Verdana"/>
              </a:rPr>
              <a:t> </a:t>
            </a:r>
            <a:r>
              <a:rPr lang="en-IN" spc="-50" dirty="0">
                <a:latin typeface="Verdana"/>
                <a:cs typeface="Verdana"/>
              </a:rPr>
              <a:t>3</a:t>
            </a:r>
            <a:endParaRPr lang="en-IN" dirty="0">
              <a:latin typeface="Verdana"/>
              <a:cs typeface="Verdana"/>
            </a:endParaRPr>
          </a:p>
          <a:p>
            <a:pPr marL="12700">
              <a:spcBef>
                <a:spcPts val="785"/>
              </a:spcBef>
            </a:pPr>
            <a:r>
              <a:rPr lang="en-IN" sz="2050" dirty="0">
                <a:latin typeface="Calibri"/>
                <a:cs typeface="Calibri"/>
              </a:rPr>
              <a:t>October,13 2026</a:t>
            </a:r>
            <a:endParaRPr lang="en-IN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3762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EC4B-53F4-B64E-88C2-BDEE912D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492278"/>
            <a:ext cx="10515600" cy="69675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Problem</a:t>
            </a:r>
            <a:r>
              <a:rPr lang="en-IN" b="1" spc="190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 </a:t>
            </a:r>
            <a:r>
              <a:rPr lang="en-IN" b="1" spc="-10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Description</a:t>
            </a:r>
            <a:br>
              <a:rPr lang="en-IN" dirty="0">
                <a:latin typeface="Arial Black" panose="020B0A04020102020204" pitchFamily="34" charset="0"/>
                <a:cs typeface="Calibri"/>
              </a:rPr>
            </a:b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73CBA-B3BD-F5D9-5761-D3DE86D2D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1253331"/>
            <a:ext cx="10515600" cy="4764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Identifying and addressing unequal prediction performance in federated traffic-flow prediction.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Different traffic clients may have different traffic patterns and data distributions.</a:t>
            </a:r>
          </a:p>
          <a:p>
            <a:pPr lvl="0"/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 global model may perform well overall but produce high prediction errors for some clients.</a:t>
            </a:r>
          </a:p>
          <a:p>
            <a:pPr lvl="0"/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Standard Federated Averaging (</a:t>
            </a:r>
            <a:r>
              <a:rPr lang="en-IN" sz="2200" dirty="0" err="1">
                <a:latin typeface="Arial" panose="020B0604020202020204" pitchFamily="34" charset="0"/>
                <a:cs typeface="Arial" panose="020B0604020202020204" pitchFamily="34" charset="0"/>
              </a:rPr>
              <a:t>FedAvg</a:t>
            </a: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) may not sufficiently address the needs of poorly performing clients.</a:t>
            </a:r>
          </a:p>
          <a:p>
            <a:pPr lvl="0"/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Additional local training may improve a weak client's predictions, but its impact on communication cost must be evaluated.</a:t>
            </a:r>
          </a:p>
          <a:p>
            <a:pPr lvl="0"/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 systematic comparison is needed to assess overall accuracy, worst-client performance, communication cost, and convergence under IID and non-IID data distributions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IN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821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551E-27A9-CABE-C84E-BC8DD50D9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57" y="612057"/>
            <a:ext cx="10515600" cy="678426"/>
          </a:xfrm>
        </p:spPr>
        <p:txBody>
          <a:bodyPr>
            <a:normAutofit fontScale="90000"/>
          </a:bodyPr>
          <a:lstStyle/>
          <a:p>
            <a:r>
              <a:rPr lang="en-IN" b="1" spc="-10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Background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5C4BD-F7B9-E3C9-C4FE-27FA166A7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4" y="1290483"/>
            <a:ext cx="11090787" cy="52086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Federated Learning enables multiple clients to train a shared machine-learning model without directly sharing their raw data. In traffic-flow prediction, different locations may have different traffic patterns and data distributions.</a:t>
            </a:r>
          </a:p>
          <a:p>
            <a:pPr lvl="0"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Federated Averaging (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FedAvg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combines model updates from multiple clients to create a global model.</a:t>
            </a:r>
          </a:p>
          <a:p>
            <a:pPr lvl="0"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Non-IID data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can cause differences in prediction performance across clients.</a:t>
            </a:r>
          </a:p>
          <a:p>
            <a:pPr lvl="0"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 model with good overall performance may still produce high prediction errors for an individual client.</a:t>
            </a:r>
          </a:p>
          <a:p>
            <a:pPr lvl="0"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Evaluating each client's MAE and RMSE helps identify poorly performing clients.</a:t>
            </a:r>
          </a:p>
          <a:p>
            <a:pPr lvl="0"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Our proposed approach investigates whether providing additional local training to the worst-performing client can improve its predictions while monitoring communication cost.</a:t>
            </a:r>
          </a:p>
          <a:p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1865827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18E9-FEFE-3FBC-D8A1-0A973FC8C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1559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Literature</a:t>
            </a:r>
            <a:r>
              <a:rPr lang="en-IN" sz="2400" b="1" spc="135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 </a:t>
            </a:r>
            <a:r>
              <a:rPr lang="en-IN" sz="2400" b="1" spc="175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&amp;</a:t>
            </a:r>
            <a:r>
              <a:rPr lang="en-IN" sz="2400" b="1" spc="135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 </a:t>
            </a:r>
            <a:r>
              <a:rPr lang="en-IN" sz="2400" b="1" spc="70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RFC</a:t>
            </a:r>
            <a:r>
              <a:rPr lang="en-IN" sz="2400" b="1" spc="135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 </a:t>
            </a:r>
            <a:r>
              <a:rPr lang="en-IN" sz="2400" b="1" spc="-10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Review</a:t>
            </a:r>
            <a:br>
              <a:rPr lang="en-IN" sz="2400" dirty="0">
                <a:latin typeface="Arial Black" panose="020B0A04020102020204" pitchFamily="34" charset="0"/>
                <a:cs typeface="Calibri"/>
              </a:rPr>
            </a:br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0B033-7F4E-AFDA-33A4-3ADF879C9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684"/>
            <a:ext cx="10515600" cy="481027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    1</a:t>
            </a:r>
            <a:r>
              <a:rPr lang="en-IN" sz="2000" b="1" dirty="0"/>
              <a:t>. </a:t>
            </a:r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FedTraffic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(2026) — Candy Abboud and Serge Khalil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Proposes a hierarchical Edge–Fog–Cloud framework combining TCN, CVAE,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FedProx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and adaptive aggregation for traffic prediction</a:t>
            </a:r>
            <a:r>
              <a:rPr lang="en-IN" sz="2000" dirty="0"/>
              <a:t>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No explicit graph-based road modelling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000" dirty="0"/>
              <a:t>  </a:t>
            </a:r>
            <a:r>
              <a:rPr lang="en-IN" sz="2000" b="1" dirty="0"/>
              <a:t>2</a:t>
            </a:r>
            <a:r>
              <a:rPr lang="en-IN" sz="2000" dirty="0"/>
              <a:t>.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Traffic-Aware Federated Learning with Custom Aggregation (2026) — Seerat Kaur et al.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he Uses an attention-based LSTM, traffic clustering, and custom client-weighted aggregation.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pPr>
              <a:lnSpc>
                <a:spcPct val="100000"/>
              </a:lnSpc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Evaluated on a regional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dataset,aggregation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relies on predefined metrics and tuned weights. More diverse datasets and client personalization need furthe</a:t>
            </a:r>
            <a:r>
              <a:rPr lang="en-IN" sz="2000" dirty="0"/>
              <a:t>r study.</a:t>
            </a:r>
          </a:p>
        </p:txBody>
      </p:sp>
    </p:spTree>
    <p:extLst>
      <p:ext uri="{BB962C8B-B14F-4D97-AF65-F5344CB8AC3E}">
        <p14:creationId xmlns:p14="http://schemas.microsoft.com/office/powerpoint/2010/main" val="92305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320F-2912-775A-8DAB-B04139222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455"/>
            <a:ext cx="10515600" cy="736088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Proposed</a:t>
            </a:r>
            <a:r>
              <a:rPr lang="en-IN" b="1" spc="210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 </a:t>
            </a:r>
            <a:r>
              <a:rPr lang="en-IN" b="1" spc="-10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Solution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616EF-B6CC-B3DA-E594-F16743464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953730"/>
            <a:ext cx="10515600" cy="5686628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Clean a public traffic dataset and split it chronologically into training and testing data.</a:t>
            </a: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Client Setup: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Divide the data among three simulated clients and test both IID and non-IID distributions.</a:t>
            </a:r>
          </a:p>
          <a:p>
            <a:pPr lvl="0"/>
            <a:r>
              <a:rPr lang="en-I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FedAvg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Baseline: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Train a global model by combining local model updates without sharing raw traffic data.</a:t>
            </a: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Error Identification: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Use MAE and RMSE to identify clients with high prediction errors.</a:t>
            </a: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Proposed Improvement: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Investigate whether additional local training for the worst-performing client reduces its prediction error.</a:t>
            </a:r>
          </a:p>
          <a:p>
            <a:pPr lvl="0"/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Evaluation: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Compare the baseline and proposed approach using prediction error, communication cost, and convergence across three random seeds.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Expected Outcome: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Evaluate whether the proposed approach improves predictions for poorly performing clients while keeping communication costs manageable.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312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D21EB-3F91-2646-B6C0-2D5F71428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n-IN" b="1" spc="345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spc="-10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3270B9-F6C1-7BF7-0817-269E5785F0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779627"/>
              </p:ext>
            </p:extLst>
          </p:nvPr>
        </p:nvGraphicFramePr>
        <p:xfrm>
          <a:off x="1514164" y="1081548"/>
          <a:ext cx="9547126" cy="516648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64351">
                  <a:extLst>
                    <a:ext uri="{9D8B030D-6E8A-4147-A177-3AD203B41FA5}">
                      <a16:colId xmlns:a16="http://schemas.microsoft.com/office/drawing/2014/main" val="3128987312"/>
                    </a:ext>
                  </a:extLst>
                </a:gridCol>
                <a:gridCol w="1853155">
                  <a:extLst>
                    <a:ext uri="{9D8B030D-6E8A-4147-A177-3AD203B41FA5}">
                      <a16:colId xmlns:a16="http://schemas.microsoft.com/office/drawing/2014/main" val="2874964636"/>
                    </a:ext>
                  </a:extLst>
                </a:gridCol>
                <a:gridCol w="3514973">
                  <a:extLst>
                    <a:ext uri="{9D8B030D-6E8A-4147-A177-3AD203B41FA5}">
                      <a16:colId xmlns:a16="http://schemas.microsoft.com/office/drawing/2014/main" val="2982743018"/>
                    </a:ext>
                  </a:extLst>
                </a:gridCol>
                <a:gridCol w="287164">
                  <a:extLst>
                    <a:ext uri="{9D8B030D-6E8A-4147-A177-3AD203B41FA5}">
                      <a16:colId xmlns:a16="http://schemas.microsoft.com/office/drawing/2014/main" val="1987744980"/>
                    </a:ext>
                  </a:extLst>
                </a:gridCol>
                <a:gridCol w="287164">
                  <a:extLst>
                    <a:ext uri="{9D8B030D-6E8A-4147-A177-3AD203B41FA5}">
                      <a16:colId xmlns:a16="http://schemas.microsoft.com/office/drawing/2014/main" val="1287785050"/>
                    </a:ext>
                  </a:extLst>
                </a:gridCol>
                <a:gridCol w="287164">
                  <a:extLst>
                    <a:ext uri="{9D8B030D-6E8A-4147-A177-3AD203B41FA5}">
                      <a16:colId xmlns:a16="http://schemas.microsoft.com/office/drawing/2014/main" val="3610693520"/>
                    </a:ext>
                  </a:extLst>
                </a:gridCol>
                <a:gridCol w="1853155">
                  <a:extLst>
                    <a:ext uri="{9D8B030D-6E8A-4147-A177-3AD203B41FA5}">
                      <a16:colId xmlns:a16="http://schemas.microsoft.com/office/drawing/2014/main" val="3443678318"/>
                    </a:ext>
                  </a:extLst>
                </a:gridCol>
              </a:tblGrid>
              <a:tr h="574156">
                <a:tc>
                  <a:txBody>
                    <a:bodyPr/>
                    <a:lstStyle/>
                    <a:p>
                      <a:r>
                        <a:rPr lang="en-IN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Proposed 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527797"/>
                  </a:ext>
                </a:extLst>
              </a:tr>
              <a:tr h="75946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lient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valuate overall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valuate each 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client”s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MAE 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andRMSE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85299"/>
                  </a:ext>
                </a:extLst>
              </a:tr>
              <a:tr h="75946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rror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 targeted client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dentify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the worst performing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460720"/>
                  </a:ext>
                </a:extLst>
              </a:tr>
              <a:tr h="574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Local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Standard local 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Investigate additional training for the selected client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1309197"/>
                  </a:ext>
                </a:extLst>
              </a:tr>
              <a:tr h="75946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rediction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easure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baseline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heck whether client-wise error decreases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6392"/>
                  </a:ext>
                </a:extLst>
              </a:tr>
              <a:tr h="759463"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Communication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measured by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Measure  additional communication overhead</a:t>
                      </a: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417701"/>
                  </a:ext>
                </a:extLst>
              </a:tr>
              <a:tr h="759463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inal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en-IN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aseline</a:t>
                      </a: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results</a:t>
                      </a:r>
                    </a:p>
                  </a:txBody>
                  <a:tcPr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Compare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accuracy,worst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-client </a:t>
                      </a:r>
                      <a:r>
                        <a:rPr lang="en-US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error,and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communication cost</a:t>
                      </a:r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0323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8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E37A8-527B-7470-0E77-16085749F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3460"/>
            <a:ext cx="10515600" cy="9144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IN" b="1" spc="210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r>
              <a:rPr lang="en-IN" b="1" spc="210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spc="175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n-IN" b="1" spc="210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spc="-10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1E316B-1F5D-5886-1EC5-09E8BD3B7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87" y="914400"/>
            <a:ext cx="8908026" cy="636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89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36DC-F083-E200-3DE2-BC4E6D88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76"/>
            <a:ext cx="10515600" cy="1149043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0000D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flow diagram</a:t>
            </a:r>
            <a:br>
              <a:rPr lang="en-IN" dirty="0">
                <a:latin typeface="Calibri"/>
                <a:cs typeface="Calibri"/>
              </a:rPr>
            </a:b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94DFDA-2939-9986-FAFB-875AECC3C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55" y="1120877"/>
            <a:ext cx="7275871" cy="5046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64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D016-29A3-0934-0DA5-63EAA3E42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Deployment</a:t>
            </a:r>
            <a:r>
              <a:rPr lang="en-IN" b="1" spc="305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 </a:t>
            </a:r>
            <a:r>
              <a:rPr lang="en-IN" b="1" spc="-10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Timelin</a:t>
            </a:r>
            <a:r>
              <a:rPr lang="en-IN" b="1" spc="-10" dirty="0">
                <a:solidFill>
                  <a:srgbClr val="0000DC"/>
                </a:solidFill>
                <a:latin typeface="Calibri"/>
                <a:cs typeface="Calibri"/>
              </a:rPr>
              <a:t>e</a:t>
            </a:r>
            <a:br>
              <a:rPr lang="en-IN" dirty="0">
                <a:latin typeface="Calibri"/>
                <a:cs typeface="Calibri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4F694-B454-951A-CCE1-836DFA61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924232"/>
            <a:ext cx="10891685" cy="5751871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Phase 1 – Data Preparation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Select a public traffic dataset, clean the data, and prepare chronological training and testing sets.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Phase 2 – Client Setup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Create three simulated clients and prepare IID and non-IID data distributions.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Phase 3 – Model Development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Implement the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FedAvg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baseline and train the traffic-flow prediction model across multiple communication rounds.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Phase 4 – Proposed Optimization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Identify the client with the highest prediction error and test additional local training.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Phase 5 – Evaluation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Compare MAE, RMSE, worst-client error, communication cost, and convergence under both data distributions.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Phase 6 – Final Analysis</a:t>
            </a:r>
            <a:b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Repeat experiments using three random seeds,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the results, and prepare the final report and presentation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2840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A0A4-83F1-B522-0EAD-6A2E7D14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75304"/>
            <a:ext cx="10515600" cy="943896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0000DC"/>
                </a:solidFill>
                <a:latin typeface="Arial Black" panose="020B0A04020102020204" pitchFamily="34" charset="0"/>
                <a:cs typeface="Calibri"/>
              </a:rPr>
              <a:t>Bibliography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FAFE8-43D4-C24D-991C-866C707B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562" y="12192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Abboud, C., &amp; Khalil, S. (2026). “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FedTraffic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: A Hierarchical Federated Learning Framework for Traffic Flow Prediction in Intelligent Transportation Systems.”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Eng, 7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(8), 362.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https://doi.org/10.3390/eng7080362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Kaur, S., et al. (2026). “A Traffic-Aware Federated Learning Prediction Framework with Custom Aggregation.” </a:t>
            </a:r>
            <a:r>
              <a:rPr lang="en-IN" sz="2000" i="1" dirty="0">
                <a:latin typeface="Arial" panose="020B0604020202020204" pitchFamily="34" charset="0"/>
                <a:cs typeface="Arial" panose="020B0604020202020204" pitchFamily="34" charset="0"/>
              </a:rPr>
              <a:t>Machine Learning with Applications, 23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Article 100829.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https://doi.org/10.1016/j.mlwa.2025.100829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5448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9E969A-9607-498A-1EAB-CF0ADEF55451}"/>
              </a:ext>
            </a:extLst>
          </p:cNvPr>
          <p:cNvSpPr txBox="1"/>
          <p:nvPr/>
        </p:nvSpPr>
        <p:spPr>
          <a:xfrm>
            <a:off x="1828800" y="2462454"/>
            <a:ext cx="8082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spc="-30" dirty="0">
                <a:latin typeface="Tahoma"/>
                <a:cs typeface="Tahoma"/>
              </a:rPr>
              <a:t>Thank</a:t>
            </a:r>
            <a:r>
              <a:rPr lang="en-US" sz="4000" spc="-45" dirty="0">
                <a:latin typeface="Tahoma"/>
                <a:cs typeface="Tahoma"/>
              </a:rPr>
              <a:t> </a:t>
            </a:r>
            <a:r>
              <a:rPr lang="en-US" sz="4000" spc="-65" dirty="0">
                <a:latin typeface="Tahoma"/>
                <a:cs typeface="Tahoma"/>
              </a:rPr>
              <a:t>You</a:t>
            </a:r>
            <a:r>
              <a:rPr lang="en-US" sz="4000" spc="-45" dirty="0">
                <a:latin typeface="Tahoma"/>
                <a:cs typeface="Tahoma"/>
              </a:rPr>
              <a:t> </a:t>
            </a:r>
            <a:r>
              <a:rPr lang="en-US" sz="4000" spc="-20" dirty="0">
                <a:latin typeface="Tahoma"/>
                <a:cs typeface="Tahoma"/>
              </a:rPr>
              <a:t>for</a:t>
            </a:r>
            <a:r>
              <a:rPr lang="en-US" sz="4000" spc="-45" dirty="0">
                <a:latin typeface="Tahoma"/>
                <a:cs typeface="Tahoma"/>
              </a:rPr>
              <a:t> </a:t>
            </a:r>
            <a:r>
              <a:rPr lang="en-US" sz="4000" spc="-60" dirty="0">
                <a:latin typeface="Tahoma"/>
                <a:cs typeface="Tahoma"/>
              </a:rPr>
              <a:t>Your</a:t>
            </a:r>
            <a:r>
              <a:rPr lang="en-US" sz="4000" spc="-45" dirty="0">
                <a:latin typeface="Tahoma"/>
                <a:cs typeface="Tahoma"/>
              </a:rPr>
              <a:t> </a:t>
            </a:r>
            <a:r>
              <a:rPr lang="en-US" sz="4000" spc="-10" dirty="0">
                <a:latin typeface="Tahoma"/>
                <a:cs typeface="Tahoma"/>
              </a:rPr>
              <a:t>Attention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165374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813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Arial Black</vt:lpstr>
      <vt:lpstr>Calibri</vt:lpstr>
      <vt:lpstr>Tahoma</vt:lpstr>
      <vt:lpstr>Verdana</vt:lpstr>
      <vt:lpstr>Office Theme</vt:lpstr>
      <vt:lpstr>PowerPoint Presentation</vt:lpstr>
      <vt:lpstr>Problem Description </vt:lpstr>
      <vt:lpstr>Background </vt:lpstr>
      <vt:lpstr>Literature &amp; RFC Review </vt:lpstr>
      <vt:lpstr>Proposed Solution </vt:lpstr>
      <vt:lpstr>Optimization Proposed </vt:lpstr>
      <vt:lpstr>System Architecture &amp; Design </vt:lpstr>
      <vt:lpstr>Data flow diagram </vt:lpstr>
      <vt:lpstr>Deployment Timeline </vt:lpstr>
      <vt:lpstr>Bibliography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ADAPOJU SRI CHANDANA</dc:creator>
  <cp:lastModifiedBy>ADAPOJU SRI CHANDANA</cp:lastModifiedBy>
  <cp:revision>1</cp:revision>
  <dcterms:created xsi:type="dcterms:W3CDTF">2026-10-13T18:32:34Z</dcterms:created>
  <dcterms:modified xsi:type="dcterms:W3CDTF">2026-10-14T16:33:31Z</dcterms:modified>
</cp:coreProperties>
</file>